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6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_img2_24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40" y="292608"/>
            <a:ext cx="5760720" cy="217399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24028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00000"/>
                </a:solidFill>
                <a:latin typeface="Arial"/>
              </a:defRPr>
            </a:pPr>
            <a:r>
              <a:t>Subject Code</a:t>
            </a:r>
          </a:p>
          <a:p>
            <a:pPr algn="ctr">
              <a:spcBef>
                <a:spcPts val="600"/>
              </a:spcBef>
              <a:defRPr sz="2300" b="1">
                <a:solidFill>
                  <a:srgbClr val="C00000"/>
                </a:solidFill>
                <a:latin typeface="Arial"/>
              </a:defRPr>
            </a:pPr>
            <a:r>
              <a:t>PT I - INTERDISCIPLINARY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290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294A6E"/>
                </a:solidFill>
                <a:latin typeface="Arial"/>
              </a:defRPr>
            </a:pPr>
            <a:r>
              <a:t>AI-BASED SMART TRANSFORMER HEALTH MONITORING SYSTEM</a:t>
            </a:r>
          </a:p>
          <a:p>
            <a:pPr algn="ctr">
              <a:spcBef>
                <a:spcPts val="500"/>
              </a:spcBef>
              <a:defRPr sz="1200">
                <a:solidFill>
                  <a:srgbClr val="646464"/>
                </a:solidFill>
                <a:latin typeface="Arial"/>
              </a:defRPr>
            </a:pPr>
            <a:r>
              <a:t>Real-Time AIoT Hardware Prototype for Continuous Health Assessment &amp; Fault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4572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32323"/>
                </a:solidFill>
                <a:latin typeface="Arial"/>
              </a:defRPr>
            </a:pPr>
            <a:r>
              <a:t>1. S Najeeba Hasin [ Reg.No. : 44731153 ]</a:t>
            </a:r>
          </a:p>
          <a:p>
            <a:pPr>
              <a:spcBef>
                <a:spcPts val="800"/>
              </a:spcBef>
              <a:defRPr sz="1300" b="1">
                <a:solidFill>
                  <a:srgbClr val="232323"/>
                </a:solidFill>
                <a:latin typeface="Arial"/>
              </a:defRPr>
            </a:pPr>
            <a:r>
              <a:t>2. Saumya Kumari [ Reg.No. : 44731080 ]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80" y="470916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32323"/>
                </a:solidFill>
                <a:latin typeface="Arial"/>
              </a:defRPr>
            </a:pPr>
            <a:r>
              <a:t>Internal Guide</a:t>
            </a:r>
          </a:p>
          <a:p>
            <a:pPr>
              <a:spcBef>
                <a:spcPts val="800"/>
              </a:spcBef>
              <a:defRPr sz="1300" b="1">
                <a:solidFill>
                  <a:srgbClr val="294A6E"/>
                </a:solidFill>
                <a:latin typeface="Arial"/>
              </a:defRPr>
            </a:pPr>
            <a:r>
              <a:t>Shanmuga Priya M.E.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0080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464"/>
                </a:solidFill>
              </a:defRPr>
            </a:pPr>
            <a:r>
              <a:t>22 September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632764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1F4E79"/>
                </a:solidFill>
              </a:defRPr>
            </a:pPr>
            <a:r>
              <a:t>Department of Computer Science</a:t>
            </a:r>
            <a:br/>
            <a:r>
              <a:t>and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_img1_2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201168"/>
            <a:ext cx="777240" cy="9235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20040"/>
            <a:ext cx="740664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500" b="1">
                <a:solidFill>
                  <a:srgbClr val="C00000"/>
                </a:solidFill>
                <a:latin typeface="Arial"/>
              </a:defRPr>
            </a:pPr>
            <a:r>
              <a:t>PRESENTATION OUTLINE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15568"/>
            <a:ext cx="8412480" cy="228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00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6464"/>
                </a:solidFill>
                <a:latin typeface="Arial"/>
              </a:defRPr>
            </a:pPr>
            <a:r>
              <a:t>22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6327648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1F4E79"/>
                </a:solidFill>
                <a:latin typeface="Arial"/>
              </a:defRPr>
            </a:pPr>
            <a:r>
              <a:t>Department of Computer Science</a:t>
            </a:r>
            <a:br/>
            <a:r>
              <a:t>and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232323"/>
                </a:solidFill>
                <a:latin typeface="Arial"/>
              </a:defRPr>
            </a:pPr>
            <a:r>
              <a:t>•   COURSE CERTIFICATE</a:t>
            </a:r>
          </a:p>
          <a:p>
            <a:pPr>
              <a:spcAft>
                <a:spcPts val="700"/>
              </a:spcAft>
              <a:defRPr sz="1400" b="1">
                <a:solidFill>
                  <a:srgbClr val="232323"/>
                </a:solidFill>
                <a:latin typeface="Arial"/>
              </a:defRPr>
            </a:pPr>
            <a:r>
              <a:t>•   ABSTRACT</a:t>
            </a:r>
          </a:p>
          <a:p>
            <a:pPr>
              <a:spcAft>
                <a:spcPts val="700"/>
              </a:spcAft>
              <a:defRPr sz="1400" b="1">
                <a:solidFill>
                  <a:srgbClr val="232323"/>
                </a:solidFill>
                <a:latin typeface="Arial"/>
              </a:defRPr>
            </a:pPr>
            <a:r>
              <a:t>•   OBJECTIVES</a:t>
            </a:r>
          </a:p>
          <a:p>
            <a:pPr>
              <a:spcAft>
                <a:spcPts val="700"/>
              </a:spcAft>
              <a:defRPr sz="1400" b="1">
                <a:solidFill>
                  <a:srgbClr val="232323"/>
                </a:solidFill>
                <a:latin typeface="Arial"/>
              </a:defRPr>
            </a:pPr>
            <a:r>
              <a:t>•   SYSTEM ARCHITECTURE</a:t>
            </a:r>
          </a:p>
          <a:p>
            <a:pPr>
              <a:spcAft>
                <a:spcPts val="700"/>
              </a:spcAft>
              <a:defRPr sz="1400" b="1">
                <a:solidFill>
                  <a:srgbClr val="232323"/>
                </a:solidFill>
                <a:latin typeface="Arial"/>
              </a:defRPr>
            </a:pPr>
            <a:r>
              <a:t>•   HARDWARE AND SOFTWARE REQUIREMENTS</a:t>
            </a:r>
          </a:p>
          <a:p>
            <a:pPr>
              <a:spcAft>
                <a:spcPts val="700"/>
              </a:spcAft>
              <a:defRPr sz="1400" b="1">
                <a:solidFill>
                  <a:srgbClr val="232323"/>
                </a:solidFill>
                <a:latin typeface="Arial"/>
              </a:defRPr>
            </a:pPr>
            <a:r>
              <a:t>•   MINI TRANSFORMER &amp; SENSOR SETUP</a:t>
            </a:r>
          </a:p>
          <a:p>
            <a:pPr>
              <a:spcAft>
                <a:spcPts val="700"/>
              </a:spcAft>
              <a:defRPr sz="1400" b="1">
                <a:solidFill>
                  <a:srgbClr val="232323"/>
                </a:solidFill>
                <a:latin typeface="Arial"/>
              </a:defRPr>
            </a:pPr>
            <a:r>
              <a:t>•   AI / ML HEALTH EVALUATION LOGIC</a:t>
            </a:r>
          </a:p>
          <a:p>
            <a:pPr>
              <a:spcAft>
                <a:spcPts val="700"/>
              </a:spcAft>
              <a:defRPr sz="1400" b="1">
                <a:solidFill>
                  <a:srgbClr val="232323"/>
                </a:solidFill>
                <a:latin typeface="Arial"/>
              </a:defRPr>
            </a:pPr>
            <a:r>
              <a:t>•   RESULTS AND DISCUSSIONS (HARDWARE &amp; DATA FLOW)</a:t>
            </a:r>
          </a:p>
          <a:p>
            <a:pPr>
              <a:spcAft>
                <a:spcPts val="700"/>
              </a:spcAft>
              <a:defRPr sz="1400" b="1">
                <a:solidFill>
                  <a:srgbClr val="232323"/>
                </a:solidFill>
                <a:latin typeface="Arial"/>
              </a:defRPr>
            </a:pPr>
            <a:r>
              <a:t>•   RESULT SNAPSHOTS (REAL-TIME OFFICIAL DASHBOARD)</a:t>
            </a:r>
          </a:p>
          <a:p>
            <a:pPr>
              <a:spcAft>
                <a:spcPts val="700"/>
              </a:spcAft>
              <a:defRPr sz="1400" b="1">
                <a:solidFill>
                  <a:srgbClr val="232323"/>
                </a:solidFill>
                <a:latin typeface="Arial"/>
              </a:defRPr>
            </a:pPr>
            <a:r>
              <a:t>•   CONCLUSION &amp; FUTURE WORK</a:t>
            </a:r>
          </a:p>
          <a:p>
            <a:pPr>
              <a:spcAft>
                <a:spcPts val="700"/>
              </a:spcAft>
              <a:defRPr sz="1400" b="1">
                <a:solidFill>
                  <a:srgbClr val="232323"/>
                </a:solidFill>
                <a:latin typeface="Arial"/>
              </a:defRPr>
            </a:pPr>
            <a:r>
              <a:t>•   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_img1_2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201168"/>
            <a:ext cx="777240" cy="9235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20040"/>
            <a:ext cx="740664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500" b="1">
                <a:solidFill>
                  <a:srgbClr val="C00000"/>
                </a:solidFill>
                <a:latin typeface="Arial"/>
              </a:defRPr>
            </a:pPr>
            <a:r>
              <a:t>COURSE CERTIFICATE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15568"/>
            <a:ext cx="8412480" cy="228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00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6464"/>
                </a:solidFill>
                <a:latin typeface="Arial"/>
              </a:defRPr>
            </a:pPr>
            <a:r>
              <a:t>22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6327648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1F4E79"/>
                </a:solidFill>
                <a:latin typeface="Arial"/>
              </a:defRPr>
            </a:pPr>
            <a:r>
              <a:t>Department of Computer Science</a:t>
            </a:r>
            <a:br/>
            <a:r>
              <a:t>and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  <a:latin typeface="Arial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_img1_2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201168"/>
            <a:ext cx="777240" cy="9235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20040"/>
            <a:ext cx="740664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500" b="1">
                <a:solidFill>
                  <a:srgbClr val="C00000"/>
                </a:solidFill>
                <a:latin typeface="Arial"/>
              </a:defRPr>
            </a:pPr>
            <a:r>
              <a:t>ABSTRACT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15568"/>
            <a:ext cx="8412480" cy="228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00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6464"/>
                </a:solidFill>
                <a:latin typeface="Arial"/>
              </a:defRPr>
            </a:pPr>
            <a:r>
              <a:t>22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6327648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1F4E79"/>
                </a:solidFill>
                <a:latin typeface="Arial"/>
              </a:defRPr>
            </a:pPr>
            <a:r>
              <a:t>Department of Computer Science</a:t>
            </a:r>
            <a:br/>
            <a:r>
              <a:t>and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7680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232323"/>
                </a:solidFill>
                <a:latin typeface="Arial"/>
              </a:defRPr>
            </a:pPr>
            <a:r>
              <a:t>•   Distribution transformers are vital electrical grid assets; unnoticed faults lead to unexpected power blackouts, costly downtime, and catastrophic equipment breakdown.</a:t>
            </a:r>
          </a:p>
          <a:p>
            <a:pPr>
              <a:spcAft>
                <a:spcPts val="1200"/>
              </a:spcAft>
              <a:defRPr sz="1500">
                <a:solidFill>
                  <a:srgbClr val="232323"/>
                </a:solidFill>
                <a:latin typeface="Arial"/>
              </a:defRPr>
            </a:pPr>
            <a:r>
              <a:t>•   Conventional maintenance relies heavily on periodic manual inspection, which fails to detect rapid thermal spikes, overloads, or oil depletion in real time.</a:t>
            </a:r>
          </a:p>
          <a:p>
            <a:pPr>
              <a:spcAft>
                <a:spcPts val="1200"/>
              </a:spcAft>
              <a:defRPr sz="1500">
                <a:solidFill>
                  <a:srgbClr val="232323"/>
                </a:solidFill>
                <a:latin typeface="Arial"/>
              </a:defRPr>
            </a:pPr>
            <a:r>
              <a:t>•   This project presents an end-to-end AIoT hardware monitoring system constructed around a mini transformer testbed.</a:t>
            </a:r>
          </a:p>
          <a:p>
            <a:pPr>
              <a:spcAft>
                <a:spcPts val="1200"/>
              </a:spcAft>
              <a:defRPr sz="1500">
                <a:solidFill>
                  <a:srgbClr val="232323"/>
                </a:solidFill>
                <a:latin typeface="Arial"/>
              </a:defRPr>
            </a:pPr>
            <a:r>
              <a:t>•   Four vital physical parameters are monitored continuously using dedicated sensors interfaced with an ESP32 microcontroller: Temperature, Oil Level, AC Voltage, and Current.</a:t>
            </a:r>
          </a:p>
          <a:p>
            <a:pPr>
              <a:spcAft>
                <a:spcPts val="1200"/>
              </a:spcAft>
              <a:defRPr sz="1500">
                <a:solidFill>
                  <a:srgbClr val="232323"/>
                </a:solidFill>
                <a:latin typeface="Arial"/>
              </a:defRPr>
            </a:pPr>
            <a:r>
              <a:t>•   Acquired sensor data is streamed wirelessly to a cloud database and backend, where an AI/ML health assessment model categorizes the transformer condition into NORMAL, WARNING, or CRITICAL / DANGEROUS.</a:t>
            </a:r>
          </a:p>
          <a:p>
            <a:pPr>
              <a:spcAft>
                <a:spcPts val="1200"/>
              </a:spcAft>
              <a:defRPr sz="1500">
                <a:solidFill>
                  <a:srgbClr val="232323"/>
                </a:solidFill>
                <a:latin typeface="Arial"/>
              </a:defRPr>
            </a:pPr>
            <a:r>
              <a:t>•   Grid officials and operators can monitor live sensor telemetry, dynamic trend graphs, and instant fault alerts through a real-time web portal.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_img1_2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201168"/>
            <a:ext cx="777240" cy="9235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20040"/>
            <a:ext cx="740664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500" b="1">
                <a:solidFill>
                  <a:srgbClr val="C00000"/>
                </a:solidFill>
                <a:latin typeface="Arial"/>
              </a:defRPr>
            </a:pPr>
            <a:r>
              <a:t>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15568"/>
            <a:ext cx="8412480" cy="228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00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6464"/>
                </a:solidFill>
                <a:latin typeface="Arial"/>
              </a:defRPr>
            </a:pPr>
            <a:r>
              <a:t>22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6327648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1F4E79"/>
                </a:solidFill>
                <a:latin typeface="Arial"/>
              </a:defRPr>
            </a:pPr>
            <a:r>
              <a:t>Department of Computer Science</a:t>
            </a:r>
            <a:br/>
            <a:r>
              <a:t>and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7680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400">
                <a:solidFill>
                  <a:srgbClr val="1F4E79"/>
                </a:solidFill>
              </a:rPr>
              <a:t>1. Hardware Prototype Development: </a:t>
            </a:r>
            <a:r>
              <a:rPr sz="1400">
                <a:solidFill>
                  <a:srgbClr val="232323"/>
                </a:solidFill>
              </a:rPr>
              <a:t>Construct a functional AIoT hardware monitoring unit using a mini transformer testbed with physical sensors.</a:t>
            </a:r>
          </a:p>
          <a:p>
            <a:pPr>
              <a:spcAft>
                <a:spcPts val="1400"/>
              </a:spcAft>
            </a:pPr>
            <a:r>
              <a:rPr b="1" sz="1400">
                <a:solidFill>
                  <a:srgbClr val="1F4E79"/>
                </a:solidFill>
              </a:rPr>
              <a:t>2. Multi-Sensor Data Acquisition: </a:t>
            </a:r>
            <a:r>
              <a:rPr sz="1400">
                <a:solidFill>
                  <a:srgbClr val="232323"/>
                </a:solidFill>
              </a:rPr>
              <a:t>Interconnect Temperature, Oil Level, AC Voltage, and Current sensors with an ESP32 microcontroller for continuous real-time sampling.</a:t>
            </a:r>
          </a:p>
          <a:p>
            <a:pPr>
              <a:spcAft>
                <a:spcPts val="1400"/>
              </a:spcAft>
            </a:pPr>
            <a:r>
              <a:rPr b="1" sz="1400">
                <a:solidFill>
                  <a:srgbClr val="1F4E79"/>
                </a:solidFill>
              </a:rPr>
              <a:t>3. Wireless Cloud Telemetry: </a:t>
            </a:r>
            <a:r>
              <a:rPr sz="1400">
                <a:solidFill>
                  <a:srgbClr val="232323"/>
                </a:solidFill>
              </a:rPr>
              <a:t>Stream live sensor measurements securely from the ESP32 to a cloud database and backend server.</a:t>
            </a:r>
          </a:p>
          <a:p>
            <a:pPr>
              <a:spcAft>
                <a:spcPts val="1400"/>
              </a:spcAft>
            </a:pPr>
            <a:r>
              <a:rPr b="1" sz="1400">
                <a:solidFill>
                  <a:srgbClr val="1F4E79"/>
                </a:solidFill>
              </a:rPr>
              <a:t>4. Intelligent AI/ML Health Classification: </a:t>
            </a:r>
            <a:r>
              <a:rPr sz="1400">
                <a:solidFill>
                  <a:srgbClr val="232323"/>
                </a:solidFill>
              </a:rPr>
              <a:t>Implement an AI/ML analysis layer to evaluate parameter thresholds and determine if the transformer is in Normal, Warning, or Critical condition.</a:t>
            </a:r>
          </a:p>
          <a:p>
            <a:pPr>
              <a:spcAft>
                <a:spcPts val="1400"/>
              </a:spcAft>
            </a:pPr>
            <a:r>
              <a:rPr b="1" sz="1400">
                <a:solidFill>
                  <a:srgbClr val="1F4E79"/>
                </a:solidFill>
              </a:rPr>
              <a:t>5. Real-Time Web Dashboard for Officials: </a:t>
            </a:r>
            <a:r>
              <a:rPr sz="1400">
                <a:solidFill>
                  <a:srgbClr val="232323"/>
                </a:solidFill>
              </a:rPr>
              <a:t>Build a web interface displaying live readings, historical trend graphs (temperature, oil level, voltage, current), and automated alert notifications.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_img1_2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201168"/>
            <a:ext cx="777240" cy="9235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20040"/>
            <a:ext cx="740664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500" b="1">
                <a:solidFill>
                  <a:srgbClr val="C00000"/>
                </a:solidFill>
                <a:latin typeface="Arial"/>
              </a:defRPr>
            </a:pPr>
            <a: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15568"/>
            <a:ext cx="8412480" cy="228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00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6464"/>
                </a:solidFill>
                <a:latin typeface="Arial"/>
              </a:defRPr>
            </a:pPr>
            <a:r>
              <a:t>22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6327648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1F4E79"/>
                </a:solidFill>
                <a:latin typeface="Arial"/>
              </a:defRPr>
            </a:pPr>
            <a:r>
              <a:t>Department of Computer Science</a:t>
            </a:r>
            <a:br/>
            <a:r>
              <a:t>and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  <a:latin typeface="Arial"/>
              </a:defRPr>
            </a:pPr>
            <a:r>
              <a:t>6</a:t>
            </a:r>
          </a:p>
        </p:txBody>
      </p:sp>
      <p:pic>
        <p:nvPicPr>
          <p:cNvPr id="8" name="Picture 7" descr="system_architecture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34440"/>
            <a:ext cx="822960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_img1_2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201168"/>
            <a:ext cx="777240" cy="9235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20040"/>
            <a:ext cx="740664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500" b="1">
                <a:solidFill>
                  <a:srgbClr val="C00000"/>
                </a:solidFill>
                <a:latin typeface="Arial"/>
              </a:defRPr>
            </a:pPr>
            <a:r>
              <a:t>HARDWARE AND SOFTWARE REQUIREMENTS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15568"/>
            <a:ext cx="8412480" cy="228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00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6464"/>
                </a:solidFill>
                <a:latin typeface="Arial"/>
              </a:defRPr>
            </a:pPr>
            <a:r>
              <a:t>22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6327648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1F4E79"/>
                </a:solidFill>
                <a:latin typeface="Arial"/>
              </a:defRPr>
            </a:pPr>
            <a:r>
              <a:t>Department of Computer Science</a:t>
            </a:r>
            <a:br/>
            <a:r>
              <a:t>and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F4E79"/>
                </a:solidFill>
                <a:latin typeface="Arial"/>
              </a:defRPr>
            </a:pPr>
            <a:r>
              <a:t>•   Hardware Requirements (Physical Prototype):</a:t>
            </a:r>
          </a:p>
          <a:p>
            <a:pPr>
              <a:spcAft>
                <a:spcPts val="300"/>
              </a:spcAft>
              <a:defRPr sz="1250">
                <a:solidFill>
                  <a:srgbClr val="232323"/>
                </a:solidFill>
                <a:latin typeface="Arial"/>
              </a:defRPr>
            </a:pPr>
            <a:r>
              <a:t>    –   Mini Step-Down Transformer: Physical laboratory transformer testbed</a:t>
            </a:r>
          </a:p>
          <a:p>
            <a:pPr>
              <a:spcAft>
                <a:spcPts val="300"/>
              </a:spcAft>
              <a:defRPr sz="1250">
                <a:solidFill>
                  <a:srgbClr val="232323"/>
                </a:solidFill>
                <a:latin typeface="Arial"/>
              </a:defRPr>
            </a:pPr>
            <a:r>
              <a:t>    –   ESP32 Microcontroller: 32-bit Dual Core, built-in Wi-Fi &amp; multi-channel ADC</a:t>
            </a:r>
          </a:p>
          <a:p>
            <a:pPr>
              <a:spcAft>
                <a:spcPts val="300"/>
              </a:spcAft>
              <a:defRPr sz="1250">
                <a:solidFill>
                  <a:srgbClr val="232323"/>
                </a:solidFill>
                <a:latin typeface="Arial"/>
              </a:defRPr>
            </a:pPr>
            <a:r>
              <a:t>    –   Temperature Sensor (LM35 / DS18B20): Measures core winding &amp; oil temperature</a:t>
            </a:r>
          </a:p>
          <a:p>
            <a:pPr>
              <a:spcAft>
                <a:spcPts val="300"/>
              </a:spcAft>
              <a:defRPr sz="1250">
                <a:solidFill>
                  <a:srgbClr val="232323"/>
                </a:solidFill>
                <a:latin typeface="Arial"/>
              </a:defRPr>
            </a:pPr>
            <a:r>
              <a:t>    –   Current Sensor (ACS712 Hall Effect Module): Measures secondary load current</a:t>
            </a:r>
          </a:p>
          <a:p>
            <a:pPr>
              <a:spcAft>
                <a:spcPts val="300"/>
              </a:spcAft>
              <a:defRPr sz="1250">
                <a:solidFill>
                  <a:srgbClr val="232323"/>
                </a:solidFill>
                <a:latin typeface="Arial"/>
              </a:defRPr>
            </a:pPr>
            <a:r>
              <a:t>    –   Voltage Sensor (ZMPT101B Module): Precision AC voltage transformer sensor</a:t>
            </a:r>
          </a:p>
          <a:p>
            <a:pPr>
              <a:spcAft>
                <a:spcPts val="300"/>
              </a:spcAft>
              <a:defRPr sz="1250">
                <a:solidFill>
                  <a:srgbClr val="232323"/>
                </a:solidFill>
                <a:latin typeface="Arial"/>
              </a:defRPr>
            </a:pPr>
            <a:r>
              <a:t>    –   Oil Level Sensor (Ultrasonic / Float Switch): Measures insulating oil reservoir depth</a:t>
            </a:r>
          </a:p>
          <a:p>
            <a:pPr>
              <a:spcAft>
                <a:spcPts val="300"/>
              </a:spcAft>
              <a:defRPr sz="1250">
                <a:solidFill>
                  <a:srgbClr val="232323"/>
                </a:solidFill>
                <a:latin typeface="Arial"/>
              </a:defRPr>
            </a:pPr>
            <a:r>
              <a:t>    –   Circuitry &amp; Power: Regulated 5V DC power supply, breadboard/PCB, jumper wires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500" b="1">
                <a:solidFill>
                  <a:srgbClr val="1F4E79"/>
                </a:solidFill>
                <a:latin typeface="Arial"/>
              </a:defRPr>
            </a:pPr>
            <a:r>
              <a:t>•   Software &amp; Cloud Requirements:</a:t>
            </a:r>
          </a:p>
          <a:p>
            <a:pPr>
              <a:spcAft>
                <a:spcPts val="300"/>
              </a:spcAft>
              <a:defRPr sz="1250">
                <a:solidFill>
                  <a:srgbClr val="232323"/>
                </a:solidFill>
                <a:latin typeface="Arial"/>
              </a:defRPr>
            </a:pPr>
            <a:r>
              <a:t>    –   Embedded Firmware: Arduino IDE / Embedded C++ for ADC acquisition &amp; JSON transmission</a:t>
            </a:r>
          </a:p>
          <a:p>
            <a:pPr>
              <a:spcAft>
                <a:spcPts val="300"/>
              </a:spcAft>
              <a:defRPr sz="1250">
                <a:solidFill>
                  <a:srgbClr val="232323"/>
                </a:solidFill>
                <a:latin typeface="Arial"/>
              </a:defRPr>
            </a:pPr>
            <a:r>
              <a:t>    –   Cloud Backend &amp; Web API: Python 3.13, FastAPI asynchronous server, Uvicorn</a:t>
            </a:r>
          </a:p>
          <a:p>
            <a:pPr>
              <a:spcAft>
                <a:spcPts val="300"/>
              </a:spcAft>
              <a:defRPr sz="1250">
                <a:solidFill>
                  <a:srgbClr val="232323"/>
                </a:solidFill>
                <a:latin typeface="Arial"/>
              </a:defRPr>
            </a:pPr>
            <a:r>
              <a:t>    –   Cloud Database: Time-series database (SQLite / Cloud DB) for telemetry &amp; incident logs</a:t>
            </a:r>
          </a:p>
          <a:p>
            <a:pPr>
              <a:spcAft>
                <a:spcPts val="300"/>
              </a:spcAft>
              <a:defRPr sz="1250">
                <a:solidFill>
                  <a:srgbClr val="232323"/>
                </a:solidFill>
                <a:latin typeface="Arial"/>
              </a:defRPr>
            </a:pPr>
            <a:r>
              <a:t>    –   Official Web Dashboard: HTML5, CSS3, JavaScript, Chart.js for real-time visualization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_img1_2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201168"/>
            <a:ext cx="777240" cy="9235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20040"/>
            <a:ext cx="740664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500" b="1">
                <a:solidFill>
                  <a:srgbClr val="C00000"/>
                </a:solidFill>
                <a:latin typeface="Arial"/>
              </a:defRPr>
            </a:pPr>
            <a:r>
              <a:t>MINI TRANSFORMER &amp; SENSOR SETUP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15568"/>
            <a:ext cx="8412480" cy="228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00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6464"/>
                </a:solidFill>
                <a:latin typeface="Arial"/>
              </a:defRPr>
            </a:pPr>
            <a:r>
              <a:t>22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6327648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1F4E79"/>
                </a:solidFill>
                <a:latin typeface="Arial"/>
              </a:defRPr>
            </a:pPr>
            <a:r>
              <a:t>Department of Computer Science</a:t>
            </a:r>
            <a:br/>
            <a:r>
              <a:t>and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232323"/>
                </a:solidFill>
                <a:latin typeface="Arial"/>
              </a:defRPr>
            </a:pPr>
            <a:r>
              <a:t>•   Four physical parameters are measured continuously on the mini transformer: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C00000"/>
                </a:solidFill>
              </a:rPr>
              <a:t>1. Temperature Sensor (°C): </a:t>
            </a:r>
            <a:r>
              <a:rPr sz="1250">
                <a:solidFill>
                  <a:srgbClr val="232323"/>
                </a:solidFill>
              </a:rPr>
              <a:t>Monitors thermal buildup in the transformer core and oil reservoir. Excess temperature accelerates insulation aging. Normal: &lt;65°C | Warning: 65°C–80°C | Critical: &gt;80°C.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C00000"/>
                </a:solidFill>
              </a:rPr>
              <a:t>2. Load Current Sensor (A): </a:t>
            </a:r>
            <a:r>
              <a:rPr sz="1250">
                <a:solidFill>
                  <a:srgbClr val="232323"/>
                </a:solidFill>
              </a:rPr>
              <a:t>Measures load current drawn across secondary output terminals. Detects persistent overload and short-circuit fault conditions before thermal damage occurs.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C00000"/>
                </a:solidFill>
              </a:rPr>
              <a:t>3. AC Voltage Sensor (V): </a:t>
            </a:r>
            <a:r>
              <a:rPr sz="1250">
                <a:solidFill>
                  <a:srgbClr val="232323"/>
                </a:solidFill>
              </a:rPr>
              <a:t>Monitors terminal AC voltage levels. Detects abnormal voltage sags, brownouts, and overvoltage surges that degrade dielectric insulation.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C00000"/>
                </a:solidFill>
              </a:rPr>
              <a:t>4. Oil Level Sensor (%): </a:t>
            </a:r>
            <a:r>
              <a:rPr sz="1250">
                <a:solidFill>
                  <a:srgbClr val="232323"/>
                </a:solidFill>
              </a:rPr>
              <a:t>Monitors the dielectric and cooling oil level in the transformer reservoir. Alerts operators when oil level drops below safety thresholds (&lt;40%), preventing core burnout.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_img1_2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201168"/>
            <a:ext cx="777240" cy="9235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20040"/>
            <a:ext cx="740664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500" b="1">
                <a:solidFill>
                  <a:srgbClr val="C00000"/>
                </a:solidFill>
                <a:latin typeface="Arial"/>
              </a:defRPr>
            </a:pPr>
            <a:r>
              <a:t>AI / ML HEALTH EVALUATION LOGIC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15568"/>
            <a:ext cx="8412480" cy="228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00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6464"/>
                </a:solidFill>
                <a:latin typeface="Arial"/>
              </a:defRPr>
            </a:pPr>
            <a:r>
              <a:t>22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6327648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1F4E79"/>
                </a:solidFill>
                <a:latin typeface="Arial"/>
              </a:defRPr>
            </a:pPr>
            <a:r>
              <a:t>Department of Computer Science</a:t>
            </a:r>
            <a:br/>
            <a:r>
              <a:t>and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b="1" sz="1300">
                <a:solidFill>
                  <a:srgbClr val="1F4E79"/>
                </a:solidFill>
              </a:rPr>
              <a:t>•   Intelligent Health Assessment Engine: </a:t>
            </a:r>
            <a:r>
              <a:rPr sz="1250">
                <a:solidFill>
                  <a:srgbClr val="232323"/>
                </a:solidFill>
              </a:rPr>
              <a:t>The cloud-hosted AI/ML engine continuously processes incoming multi-sensor telemetry (Temp, Current, Voltage, Oil Level) to calculate an aggregate health index.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1F4E79"/>
                </a:solidFill>
              </a:rPr>
              <a:t>•   Condition Classification States: 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10B981"/>
                </a:solidFill>
              </a:rPr>
              <a:t>     –   NORMAL (Green): </a:t>
            </a:r>
            <a:r>
              <a:rPr sz="1250">
                <a:solidFill>
                  <a:srgbClr val="232323"/>
                </a:solidFill>
              </a:rPr>
              <a:t> All sensor parameters operate within optimal safety margins; transformer operating stably under rated load.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D97706"/>
                </a:solidFill>
              </a:rPr>
              <a:t>     –   WARNING (Yellow): </a:t>
            </a:r>
            <a:r>
              <a:rPr sz="1250">
                <a:solidFill>
                  <a:srgbClr val="232323"/>
                </a:solidFill>
              </a:rPr>
              <a:t> Early operational anomaly detected (e.g., thermal rise or elevated load current); alerts operators to schedule preventive inspection.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DC2626"/>
                </a:solidFill>
              </a:rPr>
              <a:t>     –   CRITICAL / DANGEROUS (Red): </a:t>
            </a:r>
            <a:r>
              <a:rPr sz="1250">
                <a:solidFill>
                  <a:srgbClr val="232323"/>
                </a:solidFill>
              </a:rPr>
              <a:t> Severe hazard detected (e.g., temperature &gt; 80°C with low oil level or acute short-circuit overcurrent); triggers immediate warning for load-shedding and emergency dispatch.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1F4E79"/>
                </a:solidFill>
              </a:rPr>
              <a:t>•   Machine Learning Progression: </a:t>
            </a:r>
            <a:r>
              <a:rPr sz="1250">
                <a:solidFill>
                  <a:srgbClr val="232323"/>
                </a:solidFill>
              </a:rPr>
              <a:t>Continuous telemetry logging builds a curated dataset of transformer operational states, allowing future deployment of trained predictive ML classifiers for Remaining Useful Life (RUL) estimation.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_img1_2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201168"/>
            <a:ext cx="777240" cy="9235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20040"/>
            <a:ext cx="740664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500" b="1">
                <a:solidFill>
                  <a:srgbClr val="C00000"/>
                </a:solidFill>
                <a:latin typeface="Arial"/>
              </a:defRPr>
            </a:pPr>
            <a:r>
              <a:t>RESULTS AND DISCUSSION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15568"/>
            <a:ext cx="8412480" cy="228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00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6464"/>
                </a:solidFill>
                <a:latin typeface="Arial"/>
              </a:defRPr>
            </a:pPr>
            <a:r>
              <a:t>22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6327648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1F4E79"/>
                </a:solidFill>
                <a:latin typeface="Arial"/>
              </a:defRPr>
            </a:pPr>
            <a:r>
              <a:t>Department of Computer Science</a:t>
            </a:r>
            <a:br/>
            <a:r>
              <a:t>and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350">
                <a:solidFill>
                  <a:srgbClr val="1F4E79"/>
                </a:solidFill>
              </a:rPr>
              <a:t>•   Hardware Interfacing &amp; Sensor Acquisition:
</a:t>
            </a:r>
            <a:r>
              <a:rPr sz="1300">
                <a:solidFill>
                  <a:srgbClr val="232323"/>
                </a:solidFill>
              </a:rPr>
              <a:t>All four physical sensors (LM35, ACS712, ZMPT101B, and Ultrasonic) were successfully wired to the ESP32 microcontroller and calibrated for accurate signal sampling without interference.</a:t>
            </a:r>
          </a:p>
          <a:p>
            <a:pPr>
              <a:spcAft>
                <a:spcPts val="1200"/>
              </a:spcAft>
            </a:pPr>
            <a:r>
              <a:rPr b="1" sz="1350">
                <a:solidFill>
                  <a:srgbClr val="1F4E79"/>
                </a:solidFill>
              </a:rPr>
              <a:t>•   Wireless Telemetry Transmission:
</a:t>
            </a:r>
            <a:r>
              <a:rPr sz="1300">
                <a:solidFill>
                  <a:srgbClr val="232323"/>
                </a:solidFill>
              </a:rPr>
              <a:t>The ESP32 firmware collects sensor readings every 2 seconds, formats them into structured JSON packets, and transmits them over Wi-Fi to the FastAPI cloud backend with zero observed packet drops.</a:t>
            </a:r>
          </a:p>
          <a:p>
            <a:pPr>
              <a:spcAft>
                <a:spcPts val="1200"/>
              </a:spcAft>
            </a:pPr>
            <a:r>
              <a:rPr b="1" sz="1350">
                <a:solidFill>
                  <a:srgbClr val="1F4E79"/>
                </a:solidFill>
              </a:rPr>
              <a:t>•   Cloud Ingestion &amp; Database Logging:
</a:t>
            </a:r>
            <a:r>
              <a:rPr sz="1300">
                <a:solidFill>
                  <a:srgbClr val="232323"/>
                </a:solidFill>
              </a:rPr>
              <a:t>The backend ingests live telemetry, stores time-series historical records in the database, and broadcasts updates via WebSockets with an end-to-end latency of less than 100 milliseconds.</a:t>
            </a:r>
          </a:p>
          <a:p>
            <a:pPr>
              <a:spcAft>
                <a:spcPts val="1200"/>
              </a:spcAft>
            </a:pPr>
            <a:r>
              <a:rPr b="1" sz="1350">
                <a:solidFill>
                  <a:srgbClr val="1F4E79"/>
                </a:solidFill>
              </a:rPr>
              <a:t>•   Dynamic Health State Decision Verification:
</a:t>
            </a:r>
            <a:r>
              <a:rPr sz="1300">
                <a:solidFill>
                  <a:srgbClr val="232323"/>
                </a:solidFill>
              </a:rPr>
              <a:t>The AI health engine was verified across test scenarios. Introducing load and thermal changes on the testbed successfully triggered immediate transitions from NORMAL to WARNING and CRITICAL states.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_img1_2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201168"/>
            <a:ext cx="777240" cy="9235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20040"/>
            <a:ext cx="740664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500" b="1">
                <a:solidFill>
                  <a:srgbClr val="C00000"/>
                </a:solidFill>
                <a:latin typeface="Arial"/>
              </a:defRPr>
            </a:pPr>
            <a:r>
              <a:t>RESULT SNAPSHOTS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15568"/>
            <a:ext cx="8412480" cy="228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00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6464"/>
                </a:solidFill>
                <a:latin typeface="Arial"/>
              </a:defRPr>
            </a:pPr>
            <a:r>
              <a:t>22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6327648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1F4E79"/>
                </a:solidFill>
                <a:latin typeface="Arial"/>
              </a:defRPr>
            </a:pPr>
            <a:r>
              <a:t>Department of Computer Science</a:t>
            </a:r>
            <a:br/>
            <a:r>
              <a:t>and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  <a:latin typeface="Arial"/>
              </a:defRPr>
            </a:pPr>
            <a:r>
              <a:t>11</a:t>
            </a:r>
          </a:p>
        </p:txBody>
      </p:sp>
      <p:pic>
        <p:nvPicPr>
          <p:cNvPr id="8" name="Picture 7" descr="dashboard_mock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234440"/>
            <a:ext cx="7955279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_img1_2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201168"/>
            <a:ext cx="777240" cy="9235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20040"/>
            <a:ext cx="740664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500" b="1">
                <a:solidFill>
                  <a:srgbClr val="C00000"/>
                </a:solidFill>
                <a:latin typeface="Arial"/>
              </a:defRPr>
            </a:pPr>
            <a:r>
              <a:t>RESULTS AND DISCUSSION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15568"/>
            <a:ext cx="8412480" cy="228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00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6464"/>
                </a:solidFill>
                <a:latin typeface="Arial"/>
              </a:defRPr>
            </a:pPr>
            <a:r>
              <a:t>22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6327648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1F4E79"/>
                </a:solidFill>
                <a:latin typeface="Arial"/>
              </a:defRPr>
            </a:pPr>
            <a:r>
              <a:t>Department of Computer Science</a:t>
            </a:r>
            <a:br/>
            <a:r>
              <a:t>and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  <a:latin typeface="Arial"/>
              </a:defRPr>
            </a:pPr>
            <a:r>
              <a:t>12</a:t>
            </a:r>
          </a:p>
        </p:txBody>
      </p:sp>
      <p:pic>
        <p:nvPicPr>
          <p:cNvPr id="8" name="Picture 7" descr="dashboard_char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34440"/>
            <a:ext cx="813816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_img1_2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201168"/>
            <a:ext cx="777240" cy="9235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20040"/>
            <a:ext cx="740664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500" b="1">
                <a:solidFill>
                  <a:srgbClr val="C00000"/>
                </a:solidFill>
                <a:latin typeface="Arial"/>
              </a:defRPr>
            </a:pPr>
            <a:r>
              <a:t>CONCLUSION &amp; FUTURE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15568"/>
            <a:ext cx="8412480" cy="228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00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6464"/>
                </a:solidFill>
                <a:latin typeface="Arial"/>
              </a:defRPr>
            </a:pPr>
            <a:r>
              <a:t>22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6327648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1F4E79"/>
                </a:solidFill>
                <a:latin typeface="Arial"/>
              </a:defRPr>
            </a:pPr>
            <a:r>
              <a:t>Department of Computer Science</a:t>
            </a:r>
            <a:br/>
            <a:r>
              <a:t>and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F4E79"/>
                </a:solidFill>
                <a:latin typeface="Arial"/>
              </a:defRPr>
            </a:pPr>
            <a:r>
              <a:t>•   Conclusion:</a:t>
            </a:r>
          </a:p>
          <a:p>
            <a:pPr>
              <a:spcAft>
                <a:spcPts val="400"/>
              </a:spcAft>
              <a:defRPr sz="1200">
                <a:solidFill>
                  <a:srgbClr val="232323"/>
                </a:solidFill>
                <a:latin typeface="Arial"/>
              </a:defRPr>
            </a:pPr>
            <a:r>
              <a:t>    –   Successfully developed and demonstrated a functioning AIoT hardware prototype for smart transformer health monitoring using a mini transformer testbed.</a:t>
            </a:r>
          </a:p>
          <a:p>
            <a:pPr>
              <a:spcAft>
                <a:spcPts val="400"/>
              </a:spcAft>
              <a:defRPr sz="1200">
                <a:solidFill>
                  <a:srgbClr val="232323"/>
                </a:solidFill>
                <a:latin typeface="Arial"/>
              </a:defRPr>
            </a:pPr>
            <a:r>
              <a:t>    –   Eliminated the delays and oversights of manual inspections by implementing continuous automated multi-sensor data acquisition.</a:t>
            </a:r>
          </a:p>
          <a:p>
            <a:pPr>
              <a:spcAft>
                <a:spcPts val="400"/>
              </a:spcAft>
              <a:defRPr sz="1200">
                <a:solidFill>
                  <a:srgbClr val="232323"/>
                </a:solidFill>
                <a:latin typeface="Arial"/>
              </a:defRPr>
            </a:pPr>
            <a:r>
              <a:t>    –   Integrated an intelligent AI health engine that categorizes transformer condition into NORMAL, WARNING, or CRITICAL/DANGEROUS.</a:t>
            </a:r>
          </a:p>
          <a:p>
            <a:pPr>
              <a:spcAft>
                <a:spcPts val="400"/>
              </a:spcAft>
              <a:defRPr sz="1200">
                <a:solidFill>
                  <a:srgbClr val="232323"/>
                </a:solidFill>
                <a:latin typeface="Arial"/>
              </a:defRPr>
            </a:pPr>
            <a:r>
              <a:t>    –   Delivered a real-time web monitoring dashboard enabling power grid officials to track live parameters, review historical trends, and receive instant alert notifications.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500" b="1">
                <a:solidFill>
                  <a:srgbClr val="1F4E79"/>
                </a:solidFill>
                <a:latin typeface="Arial"/>
              </a:defRPr>
            </a:pPr>
            <a:r>
              <a:t>•   Future Work:</a:t>
            </a:r>
          </a:p>
          <a:p>
            <a:pPr>
              <a:spcAft>
                <a:spcPts val="400"/>
              </a:spcAft>
              <a:defRPr sz="1200">
                <a:solidFill>
                  <a:srgbClr val="232323"/>
                </a:solidFill>
                <a:latin typeface="Arial"/>
              </a:defRPr>
            </a:pPr>
            <a:r>
              <a:t>    –   Train predictive machine learning algorithms (e.g., Random Forest, LSTM neural networks) on historical aging data for Remaining Useful Life (RUL) estimation.</a:t>
            </a:r>
          </a:p>
          <a:p>
            <a:pPr>
              <a:spcAft>
                <a:spcPts val="400"/>
              </a:spcAft>
              <a:defRPr sz="1200">
                <a:solidFill>
                  <a:srgbClr val="232323"/>
                </a:solidFill>
                <a:latin typeface="Arial"/>
              </a:defRPr>
            </a:pPr>
            <a:r>
              <a:t>    –   Upgrade hardware interface with industrial-grade Current Transformers (CT) and Potential Transformers (PT) for deployment on utility-scale distribution substations.</a:t>
            </a:r>
          </a:p>
          <a:p>
            <a:pPr>
              <a:spcAft>
                <a:spcPts val="400"/>
              </a:spcAft>
              <a:defRPr sz="1200">
                <a:solidFill>
                  <a:srgbClr val="232323"/>
                </a:solidFill>
                <a:latin typeface="Arial"/>
              </a:defRPr>
            </a:pPr>
            <a:r>
              <a:t>    –   Integrate automated GSM/SMS emergency alerts and mobile push notifications to alert field maintenance engineers immediately.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_img1_2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201168"/>
            <a:ext cx="777240" cy="9235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20040"/>
            <a:ext cx="740664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500" b="1">
                <a:solidFill>
                  <a:srgbClr val="C00000"/>
                </a:solidFill>
                <a:latin typeface="Arial"/>
              </a:defRPr>
            </a:pPr>
            <a:r>
              <a:t>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15568"/>
            <a:ext cx="8412480" cy="228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00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6464"/>
                </a:solidFill>
                <a:latin typeface="Arial"/>
              </a:defRPr>
            </a:pPr>
            <a:r>
              <a:t>22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6327648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1F4E79"/>
                </a:solidFill>
                <a:latin typeface="Arial"/>
              </a:defRPr>
            </a:pPr>
            <a:r>
              <a:t>Department of Computer Science</a:t>
            </a:r>
            <a:br/>
            <a:r>
              <a:t>and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  <a:latin typeface="Arial"/>
              </a:defRPr>
            </a:pPr>
            <a: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7680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>
                <a:solidFill>
                  <a:srgbClr val="232323"/>
                </a:solidFill>
                <a:latin typeface="Arial"/>
              </a:defRPr>
            </a:pPr>
            <a:r>
              <a:t>1.  IEEE Std C57.104-2019: 'IEEE Guide for the Interpretation of Gases Generated in Mineral Oil-Immersed Transformers,' IEEE Standards Association.</a:t>
            </a:r>
          </a:p>
          <a:p>
            <a:pPr>
              <a:spcAft>
                <a:spcPts val="1400"/>
              </a:spcAft>
              <a:defRPr sz="1300">
                <a:solidFill>
                  <a:srgbClr val="232323"/>
                </a:solidFill>
                <a:latin typeface="Arial"/>
              </a:defRPr>
            </a:pPr>
            <a:r>
              <a:t>2.  A. S. Farag, et al., 'Online Condition Monitoring and Diagnostic Systems for Power Transformers,' IEEE Power Engineering Review, vol. 22, no. 10.</a:t>
            </a:r>
          </a:p>
          <a:p>
            <a:pPr>
              <a:spcAft>
                <a:spcPts val="1400"/>
              </a:spcAft>
              <a:defRPr sz="1300">
                <a:solidFill>
                  <a:srgbClr val="232323"/>
                </a:solidFill>
                <a:latin typeface="Arial"/>
              </a:defRPr>
            </a:pPr>
            <a:r>
              <a:t>3.  Espressif Systems, 'ESP32 Series Microcontroller Hardware Design and Wi-Fi Networking Specifications,' Official Technical Documentation, 2024.</a:t>
            </a:r>
          </a:p>
          <a:p>
            <a:pPr>
              <a:spcAft>
                <a:spcPts val="1400"/>
              </a:spcAft>
              <a:defRPr sz="1300">
                <a:solidFill>
                  <a:srgbClr val="232323"/>
                </a:solidFill>
                <a:latin typeface="Arial"/>
              </a:defRPr>
            </a:pPr>
            <a:r>
              <a:t>4.  FastAPI Framework Documentation: 'High-performance Python Web APIs for Real-Time IoT Systems,' https://fastapi.tiangolo.com/.</a:t>
            </a:r>
          </a:p>
          <a:p>
            <a:pPr>
              <a:spcAft>
                <a:spcPts val="1400"/>
              </a:spcAft>
              <a:defRPr sz="1300">
                <a:solidFill>
                  <a:srgbClr val="232323"/>
                </a:solidFill>
                <a:latin typeface="Arial"/>
              </a:defRPr>
            </a:pPr>
            <a:r>
              <a:t>5.  Chart.js Documentation: 'Open-Source HTML5 Canvas Data Visualization Library for IoT Telemetry Dashboards,' https://www.chartjs.org/.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_img1_2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201168"/>
            <a:ext cx="777240" cy="9235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20040"/>
            <a:ext cx="740664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500" b="1">
                <a:solidFill>
                  <a:srgbClr val="C00000"/>
                </a:solidFill>
                <a:latin typeface="Arial"/>
              </a:defRPr>
            </a:pPr>
            <a:r>
              <a:t>AI-BASED SMART TRANSFORMER HEALTH MONITORING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15568"/>
            <a:ext cx="8412480" cy="228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00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6464"/>
                </a:solidFill>
                <a:latin typeface="Arial"/>
              </a:defRPr>
            </a:pPr>
            <a:r>
              <a:t>22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6327648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1F4E79"/>
                </a:solidFill>
                <a:latin typeface="Arial"/>
              </a:defRPr>
            </a:pPr>
            <a:r>
              <a:t>Department of Computer Science</a:t>
            </a:r>
            <a:br/>
            <a:r>
              <a:t>and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  <a:latin typeface="Arial"/>
              </a:defRPr>
            </a:pPr>
            <a:r>
              <a:t>15</a:t>
            </a:r>
          </a:p>
        </p:txBody>
      </p:sp>
      <p:pic>
        <p:nvPicPr>
          <p:cNvPr id="8" name="Picture 7" descr="p15_img2_829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880" y="2103120"/>
            <a:ext cx="4206240" cy="314078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493776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F4E79"/>
                </a:solidFill>
                <a:latin typeface="Arial"/>
              </a:defRPr>
            </a:pPr>
            <a:r>
              <a:t>QUESTIONS &amp; ANSWERS</a:t>
            </a:r>
          </a:p>
          <a:p>
            <a:pPr algn="ctr">
              <a:spcBef>
                <a:spcPts val="400"/>
              </a:spcBef>
              <a:defRPr sz="1300">
                <a:solidFill>
                  <a:srgbClr val="646464"/>
                </a:solidFill>
                <a:latin typeface="Arial"/>
              </a:defRPr>
            </a:pPr>
            <a:r>
              <a:t>Open for Evaluation, Questions &amp; Feedback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_img1_2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201168"/>
            <a:ext cx="777240" cy="9235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20040"/>
            <a:ext cx="740664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500" b="1">
                <a:solidFill>
                  <a:srgbClr val="C00000"/>
                </a:solidFill>
                <a:latin typeface="Arial"/>
              </a:defRPr>
            </a:pPr>
            <a:r>
              <a:t>AI-BASED SMART TRANSFORMER HEALTH MONITORING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15568"/>
            <a:ext cx="8412480" cy="228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00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6464"/>
                </a:solidFill>
                <a:latin typeface="Arial"/>
              </a:defRPr>
            </a:pPr>
            <a:r>
              <a:t>22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6327648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1F4E79"/>
                </a:solidFill>
                <a:latin typeface="Arial"/>
              </a:defRPr>
            </a:pPr>
            <a:r>
              <a:t>Department of Computer Science</a:t>
            </a:r>
            <a:br/>
            <a:r>
              <a:t>and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  <a:latin typeface="Arial"/>
              </a:defRPr>
            </a:pPr>
            <a:r>
              <a:t>16</a:t>
            </a:r>
          </a:p>
        </p:txBody>
      </p:sp>
      <p:pic>
        <p:nvPicPr>
          <p:cNvPr id="8" name="Picture 7" descr="p16_img2_839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1920240"/>
            <a:ext cx="6035040" cy="222847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